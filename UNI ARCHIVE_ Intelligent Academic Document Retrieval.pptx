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  <p:embeddedFontLst>
    <p:embeddedFont>
      <p:font typeface="Quattrocento Sans" charset="-122" pitchFamily="34"/>
      <p:regular r:id="rId23"/>
    </p:embeddedFont>
    <p:embeddedFont>
      <p:font typeface="Unna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dogvibe3w34/mnt/agents/output/uni-archive/images/10_Empowering_Kenyan_Students_One_Computer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 1" descr="https://kimi-img.moonshot.cn/pub/slides/26-06-03-15:43:05-d8ftm2f826pk2do708n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4961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420">
                  <a:alpha val="94000"/>
                </a:srgbClr>
              </a:gs>
              <a:gs pos="50000">
                <a:srgbClr val="2D2420">
                  <a:alpha val="69000"/>
                </a:srgbClr>
              </a:gs>
              <a:gs pos="100000">
                <a:srgbClr val="2D2420">
                  <a:alpha val="1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16000" y="228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KENYAN HIGHER EDUCATION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16000" y="27940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spc="300" kern="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UNI ARCHIVE</a:t>
            </a:r>
            <a:endParaRPr lang="en-US" sz="4800" dirty="0"/>
          </a:p>
        </p:txBody>
      </p:sp>
      <p:sp>
        <p:nvSpPr>
          <p:cNvPr id="7" name="Shape 3"/>
          <p:cNvSpPr/>
          <p:nvPr/>
        </p:nvSpPr>
        <p:spPr>
          <a:xfrm>
            <a:off x="1016000" y="46355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8" name="Text 4"/>
          <p:cNvSpPr/>
          <p:nvPr/>
        </p:nvSpPr>
        <p:spPr>
          <a:xfrm>
            <a:off x="1016000" y="488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Academic Document Retrieval for Kenyan Universities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16000" y="6223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Revolutionizing access to academic materials through OCR and Semantic Search technology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1" name="Text 7"/>
          <p:cNvSpPr/>
          <p:nvPr/>
        </p:nvSpPr>
        <p:spPr>
          <a:xfrm>
            <a:off x="15825282" y="4466569"/>
            <a:ext cx="4679332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968500"/>
            <a:ext cx="762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60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302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resources in Kenyan higher education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19500"/>
            <a:ext cx="6350000" cy="127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937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400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4419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 ARCHIVE platform features and objectives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16500"/>
            <a:ext cx="6350000" cy="127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5334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5816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design, workflows, and technologies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413500"/>
            <a:ext cx="6350000" cy="127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731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679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&amp; Roadmap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7213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timeline and expected outcomes</a:t>
            </a:r>
            <a:endParaRPr lang="en-US" sz="1600" dirty="0"/>
          </a:p>
        </p:txBody>
      </p:sp>
      <p:pic>
        <p:nvPicPr>
          <p:cNvPr id="20" name="Image 0" descr="https://kimi-img.moonshot.cn/pub/slides/okc/xydogvibe3w34/mnt/agents/output/uni-archive/images/2_About_Us_Mount_Kenya_University.png">    </p:cNvPr>
          <p:cNvPicPr>
            <a:picLocks noChangeAspect="1"/>
          </p:cNvPicPr>
          <p:nvPr/>
        </p:nvPicPr>
        <p:blipFill>
          <a:blip r:embed="rId1"/>
          <a:srcRect l="31920" r="31920" t="0" b="0"/>
          <a:stretch/>
        </p:blipFill>
        <p:spPr>
          <a:xfrm>
            <a:off x="8636000" y="1016000"/>
            <a:ext cx="6858000" cy="7112000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Shape 18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dogvibe3w34/mnt/agents/output/uni-archive/images/1_Libraries_Tom_Mboya_University.png">    </p:cNvPr>
          <p:cNvPicPr>
            <a:picLocks noChangeAspect="1"/>
          </p:cNvPicPr>
          <p:nvPr/>
        </p:nvPicPr>
        <p:blipFill>
          <a:blip r:embed="rId1"/>
          <a:srcRect l="0" r="0" t="4040" b="404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420">
                  <a:alpha val="91000"/>
                </a:srgbClr>
              </a:gs>
              <a:gs pos="60000">
                <a:srgbClr val="2D2420">
                  <a:alpha val="75000"/>
                </a:srgbClr>
              </a:gs>
              <a:gs pos="100000">
                <a:srgbClr val="2D2420">
                  <a:alpha val="3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Challenge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016000" y="48895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143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academic resources in Kenyan higher education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Fragmented Academic 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C7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Kenyan university students face significant barriers accessing materials: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7" name="Shape 5"/>
          <p:cNvSpPr/>
          <p:nvPr/>
        </p:nvSpPr>
        <p:spPr>
          <a:xfrm>
            <a:off x="1050925" y="266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14287"/>
                </a:moveTo>
                <a:cubicBezTo>
                  <a:pt x="272981" y="-14287"/>
                  <a:pt x="285750" y="-1518"/>
                  <a:pt x="285750" y="14288"/>
                </a:cubicBezTo>
                <a:lnTo>
                  <a:pt x="285750" y="30629"/>
                </a:lnTo>
                <a:cubicBezTo>
                  <a:pt x="373350" y="43130"/>
                  <a:pt x="442645" y="112425"/>
                  <a:pt x="455146" y="200025"/>
                </a:cubicBezTo>
                <a:lnTo>
                  <a:pt x="471488" y="200025"/>
                </a:lnTo>
                <a:cubicBezTo>
                  <a:pt x="487293" y="200025"/>
                  <a:pt x="500063" y="212794"/>
                  <a:pt x="500063" y="228600"/>
                </a:cubicBezTo>
                <a:cubicBezTo>
                  <a:pt x="500063" y="244406"/>
                  <a:pt x="487293" y="257175"/>
                  <a:pt x="471488" y="257175"/>
                </a:cubicBezTo>
                <a:lnTo>
                  <a:pt x="455146" y="257175"/>
                </a:lnTo>
                <a:cubicBezTo>
                  <a:pt x="442645" y="344775"/>
                  <a:pt x="373350" y="414070"/>
                  <a:pt x="285750" y="426571"/>
                </a:cubicBezTo>
                <a:lnTo>
                  <a:pt x="285750" y="442913"/>
                </a:lnTo>
                <a:cubicBezTo>
                  <a:pt x="285750" y="458718"/>
                  <a:pt x="272981" y="471488"/>
                  <a:pt x="257175" y="471488"/>
                </a:cubicBezTo>
                <a:cubicBezTo>
                  <a:pt x="241369" y="471488"/>
                  <a:pt x="228600" y="458718"/>
                  <a:pt x="228600" y="442913"/>
                </a:cubicBezTo>
                <a:lnTo>
                  <a:pt x="228600" y="426571"/>
                </a:lnTo>
                <a:cubicBezTo>
                  <a:pt x="141000" y="414070"/>
                  <a:pt x="71705" y="344775"/>
                  <a:pt x="59204" y="257175"/>
                </a:cubicBezTo>
                <a:lnTo>
                  <a:pt x="42863" y="257175"/>
                </a:lnTo>
                <a:cubicBezTo>
                  <a:pt x="27057" y="257175"/>
                  <a:pt x="14288" y="244406"/>
                  <a:pt x="14288" y="228600"/>
                </a:cubicBezTo>
                <a:cubicBezTo>
                  <a:pt x="14288" y="212794"/>
                  <a:pt x="27057" y="200025"/>
                  <a:pt x="42863" y="200025"/>
                </a:cubicBezTo>
                <a:lnTo>
                  <a:pt x="59204" y="200025"/>
                </a:lnTo>
                <a:cubicBezTo>
                  <a:pt x="71705" y="112425"/>
                  <a:pt x="141000" y="43130"/>
                  <a:pt x="228600" y="30629"/>
                </a:cubicBezTo>
                <a:lnTo>
                  <a:pt x="228600" y="14288"/>
                </a:lnTo>
                <a:cubicBezTo>
                  <a:pt x="228600" y="-1518"/>
                  <a:pt x="241369" y="-14287"/>
                  <a:pt x="257175" y="-14287"/>
                </a:cubicBezTo>
                <a:close/>
                <a:moveTo>
                  <a:pt x="114300" y="228600"/>
                </a:moveTo>
                <a:cubicBezTo>
                  <a:pt x="114300" y="307455"/>
                  <a:pt x="178320" y="371475"/>
                  <a:pt x="257175" y="371475"/>
                </a:cubicBezTo>
                <a:cubicBezTo>
                  <a:pt x="336030" y="371475"/>
                  <a:pt x="400050" y="307455"/>
                  <a:pt x="400050" y="228600"/>
                </a:cubicBezTo>
                <a:cubicBezTo>
                  <a:pt x="400050" y="149745"/>
                  <a:pt x="336030" y="85725"/>
                  <a:pt x="257175" y="85725"/>
                </a:cubicBezTo>
                <a:cubicBezTo>
                  <a:pt x="178320" y="85725"/>
                  <a:pt x="114300" y="149745"/>
                  <a:pt x="114300" y="228600"/>
                </a:cubicBezTo>
                <a:close/>
                <a:moveTo>
                  <a:pt x="257175" y="142875"/>
                </a:moveTo>
                <a:cubicBezTo>
                  <a:pt x="304488" y="142875"/>
                  <a:pt x="342900" y="181287"/>
                  <a:pt x="342900" y="228600"/>
                </a:cubicBezTo>
                <a:cubicBezTo>
                  <a:pt x="342900" y="275913"/>
                  <a:pt x="304488" y="314325"/>
                  <a:pt x="257175" y="314325"/>
                </a:cubicBezTo>
                <a:cubicBezTo>
                  <a:pt x="209862" y="314325"/>
                  <a:pt x="171450" y="275913"/>
                  <a:pt x="171450" y="228600"/>
                </a:cubicBezTo>
                <a:cubicBezTo>
                  <a:pt x="171450" y="181287"/>
                  <a:pt x="209862" y="142875"/>
                  <a:pt x="257175" y="142875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540000"/>
            <a:ext cx="571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Geographic &amp; Temporal Barriers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78000" y="30226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library access due to distance, operating hours, and physical capacity constraints.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23495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cubicBezTo>
                  <a:pt x="231547" y="0"/>
                  <a:pt x="257175" y="19199"/>
                  <a:pt x="257175" y="42863"/>
                </a:cubicBezTo>
                <a:cubicBezTo>
                  <a:pt x="257175" y="52149"/>
                  <a:pt x="253246" y="60722"/>
                  <a:pt x="246459" y="67776"/>
                </a:cubicBezTo>
                <a:cubicBezTo>
                  <a:pt x="240566" y="73938"/>
                  <a:pt x="235744" y="81439"/>
                  <a:pt x="235744" y="90011"/>
                </a:cubicBezTo>
                <a:cubicBezTo>
                  <a:pt x="235744" y="103406"/>
                  <a:pt x="246638" y="114300"/>
                  <a:pt x="260033" y="114300"/>
                </a:cubicBezTo>
                <a:lnTo>
                  <a:pt x="300038" y="114300"/>
                </a:lnTo>
                <a:cubicBezTo>
                  <a:pt x="323701" y="114300"/>
                  <a:pt x="342900" y="133499"/>
                  <a:pt x="342900" y="157163"/>
                </a:cubicBezTo>
                <a:lnTo>
                  <a:pt x="342900" y="197168"/>
                </a:lnTo>
                <a:cubicBezTo>
                  <a:pt x="342900" y="210562"/>
                  <a:pt x="353794" y="221456"/>
                  <a:pt x="367189" y="221456"/>
                </a:cubicBezTo>
                <a:cubicBezTo>
                  <a:pt x="375672" y="221456"/>
                  <a:pt x="383262" y="216634"/>
                  <a:pt x="389424" y="210741"/>
                </a:cubicBezTo>
                <a:cubicBezTo>
                  <a:pt x="396478" y="204043"/>
                  <a:pt x="405051" y="200025"/>
                  <a:pt x="414337" y="200025"/>
                </a:cubicBezTo>
                <a:cubicBezTo>
                  <a:pt x="438001" y="200025"/>
                  <a:pt x="457200" y="225653"/>
                  <a:pt x="457200" y="257175"/>
                </a:cubicBezTo>
                <a:cubicBezTo>
                  <a:pt x="457200" y="288697"/>
                  <a:pt x="438001" y="314325"/>
                  <a:pt x="414337" y="314325"/>
                </a:cubicBezTo>
                <a:cubicBezTo>
                  <a:pt x="405051" y="314325"/>
                  <a:pt x="396389" y="310396"/>
                  <a:pt x="389424" y="303609"/>
                </a:cubicBezTo>
                <a:cubicBezTo>
                  <a:pt x="383262" y="297716"/>
                  <a:pt x="375761" y="292894"/>
                  <a:pt x="367189" y="292894"/>
                </a:cubicBezTo>
                <a:cubicBezTo>
                  <a:pt x="353794" y="292894"/>
                  <a:pt x="342900" y="303788"/>
                  <a:pt x="342900" y="317183"/>
                </a:cubicBezTo>
                <a:lnTo>
                  <a:pt x="342900" y="414338"/>
                </a:lnTo>
                <a:cubicBezTo>
                  <a:pt x="342900" y="438001"/>
                  <a:pt x="323701" y="457200"/>
                  <a:pt x="300038" y="457200"/>
                </a:cubicBezTo>
                <a:lnTo>
                  <a:pt x="249317" y="457200"/>
                </a:lnTo>
                <a:cubicBezTo>
                  <a:pt x="237887" y="457200"/>
                  <a:pt x="228600" y="447913"/>
                  <a:pt x="228600" y="436483"/>
                </a:cubicBezTo>
                <a:cubicBezTo>
                  <a:pt x="228600" y="428268"/>
                  <a:pt x="233779" y="421035"/>
                  <a:pt x="240387" y="416123"/>
                </a:cubicBezTo>
                <a:cubicBezTo>
                  <a:pt x="250746" y="408355"/>
                  <a:pt x="257175" y="397639"/>
                  <a:pt x="257175" y="385763"/>
                </a:cubicBezTo>
                <a:cubicBezTo>
                  <a:pt x="257175" y="362099"/>
                  <a:pt x="231547" y="342900"/>
                  <a:pt x="200025" y="342900"/>
                </a:cubicBezTo>
                <a:cubicBezTo>
                  <a:pt x="168503" y="342900"/>
                  <a:pt x="142875" y="362099"/>
                  <a:pt x="142875" y="385763"/>
                </a:cubicBezTo>
                <a:cubicBezTo>
                  <a:pt x="142875" y="397639"/>
                  <a:pt x="149304" y="408355"/>
                  <a:pt x="159663" y="416123"/>
                </a:cubicBezTo>
                <a:cubicBezTo>
                  <a:pt x="166271" y="421035"/>
                  <a:pt x="171450" y="428179"/>
                  <a:pt x="171450" y="436483"/>
                </a:cubicBezTo>
                <a:cubicBezTo>
                  <a:pt x="171450" y="447913"/>
                  <a:pt x="162163" y="457200"/>
                  <a:pt x="150733" y="457200"/>
                </a:cubicBezTo>
                <a:lnTo>
                  <a:pt x="42863" y="457200"/>
                </a:lnTo>
                <a:cubicBezTo>
                  <a:pt x="19199" y="457200"/>
                  <a:pt x="0" y="438001"/>
                  <a:pt x="0" y="414338"/>
                </a:cubicBezTo>
                <a:lnTo>
                  <a:pt x="0" y="306467"/>
                </a:lnTo>
                <a:cubicBezTo>
                  <a:pt x="0" y="295037"/>
                  <a:pt x="9287" y="285750"/>
                  <a:pt x="20717" y="285750"/>
                </a:cubicBezTo>
                <a:cubicBezTo>
                  <a:pt x="28932" y="285750"/>
                  <a:pt x="36165" y="290929"/>
                  <a:pt x="41077" y="297537"/>
                </a:cubicBezTo>
                <a:cubicBezTo>
                  <a:pt x="48845" y="307896"/>
                  <a:pt x="59561" y="314325"/>
                  <a:pt x="71438" y="314325"/>
                </a:cubicBezTo>
                <a:cubicBezTo>
                  <a:pt x="95101" y="314325"/>
                  <a:pt x="114300" y="288697"/>
                  <a:pt x="114300" y="257175"/>
                </a:cubicBezTo>
                <a:cubicBezTo>
                  <a:pt x="114300" y="225653"/>
                  <a:pt x="95101" y="200025"/>
                  <a:pt x="71438" y="200025"/>
                </a:cubicBezTo>
                <a:cubicBezTo>
                  <a:pt x="59561" y="200025"/>
                  <a:pt x="48845" y="206454"/>
                  <a:pt x="41077" y="216813"/>
                </a:cubicBezTo>
                <a:cubicBezTo>
                  <a:pt x="36165" y="223421"/>
                  <a:pt x="29021" y="228600"/>
                  <a:pt x="20717" y="228600"/>
                </a:cubicBezTo>
                <a:cubicBezTo>
                  <a:pt x="9287" y="228600"/>
                  <a:pt x="0" y="219313"/>
                  <a:pt x="0" y="207883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140018" y="114300"/>
                </a:lnTo>
                <a:cubicBezTo>
                  <a:pt x="153412" y="114300"/>
                  <a:pt x="164306" y="103406"/>
                  <a:pt x="164306" y="90011"/>
                </a:cubicBezTo>
                <a:cubicBezTo>
                  <a:pt x="164306" y="81528"/>
                  <a:pt x="159484" y="73938"/>
                  <a:pt x="153591" y="67776"/>
                </a:cubicBezTo>
                <a:cubicBezTo>
                  <a:pt x="146893" y="60722"/>
                  <a:pt x="142875" y="52149"/>
                  <a:pt x="142875" y="42863"/>
                </a:cubicBezTo>
                <a:cubicBezTo>
                  <a:pt x="142875" y="19199"/>
                  <a:pt x="168503" y="0"/>
                  <a:pt x="200025" y="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2540000"/>
            <a:ext cx="571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Fragmented Distribution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461500" y="30226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 scattered across personal drives, WhatsApp groups, and informal sharing networks.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1275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925" y="4445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0"/>
                </a:moveTo>
                <a:cubicBezTo>
                  <a:pt x="54203" y="0"/>
                  <a:pt x="28575" y="25628"/>
                  <a:pt x="28575" y="57150"/>
                </a:cubicBezTo>
                <a:lnTo>
                  <a:pt x="28575" y="400050"/>
                </a:lnTo>
                <a:cubicBezTo>
                  <a:pt x="28575" y="431572"/>
                  <a:pt x="54203" y="457200"/>
                  <a:pt x="85725" y="457200"/>
                </a:cubicBezTo>
                <a:lnTo>
                  <a:pt x="246459" y="457200"/>
                </a:lnTo>
                <a:cubicBezTo>
                  <a:pt x="226189" y="429071"/>
                  <a:pt x="214313" y="394514"/>
                  <a:pt x="214313" y="357188"/>
                </a:cubicBezTo>
                <a:cubicBezTo>
                  <a:pt x="214313" y="267355"/>
                  <a:pt x="283428" y="193596"/>
                  <a:pt x="371475" y="186363"/>
                </a:cubicBezTo>
                <a:lnTo>
                  <a:pt x="371475" y="152340"/>
                </a:lnTo>
                <a:cubicBezTo>
                  <a:pt x="371475" y="137160"/>
                  <a:pt x="365492" y="122605"/>
                  <a:pt x="354776" y="111889"/>
                </a:cubicBezTo>
                <a:lnTo>
                  <a:pt x="259586" y="16699"/>
                </a:lnTo>
                <a:cubicBezTo>
                  <a:pt x="248870" y="5983"/>
                  <a:pt x="234404" y="0"/>
                  <a:pt x="219224" y="0"/>
                </a:cubicBezTo>
                <a:lnTo>
                  <a:pt x="85725" y="0"/>
                </a:lnTo>
                <a:close/>
                <a:moveTo>
                  <a:pt x="319236" y="157163"/>
                </a:moveTo>
                <a:lnTo>
                  <a:pt x="235744" y="157163"/>
                </a:lnTo>
                <a:cubicBezTo>
                  <a:pt x="223867" y="157163"/>
                  <a:pt x="214313" y="147608"/>
                  <a:pt x="214313" y="135731"/>
                </a:cubicBezTo>
                <a:lnTo>
                  <a:pt x="214313" y="52239"/>
                </a:lnTo>
                <a:lnTo>
                  <a:pt x="319236" y="157163"/>
                </a:lnTo>
                <a:close/>
                <a:moveTo>
                  <a:pt x="385763" y="485775"/>
                </a:moveTo>
                <a:cubicBezTo>
                  <a:pt x="456732" y="485775"/>
                  <a:pt x="514350" y="428157"/>
                  <a:pt x="514350" y="357188"/>
                </a:cubicBezTo>
                <a:cubicBezTo>
                  <a:pt x="514350" y="286218"/>
                  <a:pt x="456732" y="228600"/>
                  <a:pt x="385763" y="228600"/>
                </a:cubicBezTo>
                <a:cubicBezTo>
                  <a:pt x="314793" y="228600"/>
                  <a:pt x="257175" y="286218"/>
                  <a:pt x="257175" y="357188"/>
                </a:cubicBezTo>
                <a:cubicBezTo>
                  <a:pt x="257175" y="428157"/>
                  <a:pt x="314793" y="485775"/>
                  <a:pt x="385763" y="485775"/>
                </a:cubicBezTo>
                <a:close/>
                <a:moveTo>
                  <a:pt x="438716" y="324416"/>
                </a:moveTo>
                <a:lnTo>
                  <a:pt x="405944" y="357188"/>
                </a:lnTo>
                <a:lnTo>
                  <a:pt x="438716" y="389959"/>
                </a:lnTo>
                <a:cubicBezTo>
                  <a:pt x="444252" y="395496"/>
                  <a:pt x="444252" y="404604"/>
                  <a:pt x="438716" y="410141"/>
                </a:cubicBezTo>
                <a:cubicBezTo>
                  <a:pt x="433179" y="415677"/>
                  <a:pt x="424071" y="415677"/>
                  <a:pt x="418534" y="410141"/>
                </a:cubicBezTo>
                <a:lnTo>
                  <a:pt x="385763" y="377369"/>
                </a:lnTo>
                <a:lnTo>
                  <a:pt x="352991" y="410141"/>
                </a:lnTo>
                <a:cubicBezTo>
                  <a:pt x="347454" y="415677"/>
                  <a:pt x="338346" y="415677"/>
                  <a:pt x="332809" y="410141"/>
                </a:cubicBezTo>
                <a:cubicBezTo>
                  <a:pt x="327273" y="404604"/>
                  <a:pt x="327273" y="395496"/>
                  <a:pt x="332809" y="389959"/>
                </a:cubicBezTo>
                <a:lnTo>
                  <a:pt x="365581" y="357188"/>
                </a:lnTo>
                <a:lnTo>
                  <a:pt x="332809" y="324416"/>
                </a:lnTo>
                <a:cubicBezTo>
                  <a:pt x="327273" y="318879"/>
                  <a:pt x="327273" y="309771"/>
                  <a:pt x="332809" y="304234"/>
                </a:cubicBezTo>
                <a:cubicBezTo>
                  <a:pt x="338346" y="298698"/>
                  <a:pt x="347454" y="298698"/>
                  <a:pt x="352991" y="304234"/>
                </a:cubicBezTo>
                <a:lnTo>
                  <a:pt x="385763" y="337006"/>
                </a:lnTo>
                <a:lnTo>
                  <a:pt x="418534" y="304234"/>
                </a:lnTo>
                <a:cubicBezTo>
                  <a:pt x="424071" y="298698"/>
                  <a:pt x="433179" y="298698"/>
                  <a:pt x="438716" y="304234"/>
                </a:cubicBezTo>
                <a:cubicBezTo>
                  <a:pt x="444252" y="309771"/>
                  <a:pt x="444252" y="318879"/>
                  <a:pt x="438716" y="324416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1778000" y="4318000"/>
            <a:ext cx="571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Unsearchable Content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78000" y="48006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Scanned documents and PDFs lack machine-readable text, making content impossible to search.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5500" y="41275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4425" y="4445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58259" y="34915"/>
                </a:moveTo>
                <a:lnTo>
                  <a:pt x="490597" y="169128"/>
                </a:lnTo>
                <a:cubicBezTo>
                  <a:pt x="515332" y="194221"/>
                  <a:pt x="515332" y="234404"/>
                  <a:pt x="490597" y="259497"/>
                </a:cubicBezTo>
                <a:lnTo>
                  <a:pt x="350937" y="400854"/>
                </a:lnTo>
                <a:cubicBezTo>
                  <a:pt x="342632" y="409248"/>
                  <a:pt x="329059" y="409337"/>
                  <a:pt x="320665" y="401032"/>
                </a:cubicBezTo>
                <a:cubicBezTo>
                  <a:pt x="312271" y="392728"/>
                  <a:pt x="312182" y="379155"/>
                  <a:pt x="320486" y="370761"/>
                </a:cubicBezTo>
                <a:lnTo>
                  <a:pt x="460147" y="229314"/>
                </a:lnTo>
                <a:cubicBezTo>
                  <a:pt x="468362" y="221010"/>
                  <a:pt x="468362" y="207526"/>
                  <a:pt x="460147" y="199221"/>
                </a:cubicBezTo>
                <a:lnTo>
                  <a:pt x="327720" y="65097"/>
                </a:lnTo>
                <a:cubicBezTo>
                  <a:pt x="319415" y="56704"/>
                  <a:pt x="319504" y="43130"/>
                  <a:pt x="327898" y="34826"/>
                </a:cubicBezTo>
                <a:cubicBezTo>
                  <a:pt x="336292" y="26521"/>
                  <a:pt x="349865" y="26610"/>
                  <a:pt x="358170" y="35004"/>
                </a:cubicBezTo>
                <a:close/>
                <a:moveTo>
                  <a:pt x="28664" y="204936"/>
                </a:moveTo>
                <a:lnTo>
                  <a:pt x="28664" y="85725"/>
                </a:lnTo>
                <a:cubicBezTo>
                  <a:pt x="28664" y="54203"/>
                  <a:pt x="54293" y="28575"/>
                  <a:pt x="85814" y="28575"/>
                </a:cubicBezTo>
                <a:lnTo>
                  <a:pt x="205026" y="28575"/>
                </a:lnTo>
                <a:cubicBezTo>
                  <a:pt x="220206" y="28575"/>
                  <a:pt x="234761" y="34558"/>
                  <a:pt x="245477" y="45274"/>
                </a:cubicBezTo>
                <a:lnTo>
                  <a:pt x="374065" y="173861"/>
                </a:lnTo>
                <a:cubicBezTo>
                  <a:pt x="396389" y="196185"/>
                  <a:pt x="396389" y="232350"/>
                  <a:pt x="374065" y="254675"/>
                </a:cubicBezTo>
                <a:lnTo>
                  <a:pt x="254853" y="373886"/>
                </a:lnTo>
                <a:cubicBezTo>
                  <a:pt x="232529" y="396210"/>
                  <a:pt x="196364" y="396210"/>
                  <a:pt x="174040" y="373886"/>
                </a:cubicBezTo>
                <a:lnTo>
                  <a:pt x="45452" y="245299"/>
                </a:lnTo>
                <a:cubicBezTo>
                  <a:pt x="34736" y="234583"/>
                  <a:pt x="28754" y="220027"/>
                  <a:pt x="28754" y="204847"/>
                </a:cubicBezTo>
                <a:close/>
                <a:moveTo>
                  <a:pt x="157252" y="128588"/>
                </a:moveTo>
                <a:cubicBezTo>
                  <a:pt x="157252" y="112817"/>
                  <a:pt x="144448" y="100013"/>
                  <a:pt x="128677" y="100013"/>
                </a:cubicBezTo>
                <a:cubicBezTo>
                  <a:pt x="112906" y="100013"/>
                  <a:pt x="100102" y="112817"/>
                  <a:pt x="100102" y="128588"/>
                </a:cubicBezTo>
                <a:cubicBezTo>
                  <a:pt x="100102" y="144358"/>
                  <a:pt x="112906" y="157163"/>
                  <a:pt x="128677" y="157163"/>
                </a:cubicBezTo>
                <a:cubicBezTo>
                  <a:pt x="144448" y="157163"/>
                  <a:pt x="157252" y="144358"/>
                  <a:pt x="157252" y="128588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20" name="Text 18"/>
          <p:cNvSpPr/>
          <p:nvPr/>
        </p:nvSpPr>
        <p:spPr>
          <a:xfrm>
            <a:off x="9461500" y="4318000"/>
            <a:ext cx="571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Weak Metadata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61500" y="48006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Inconsistent categorization and lack of standardized metadata hinders resource discovery.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096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B85C38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6286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 waste hours searching for materials, collaboration is hindered, and valuable academic content remains buried and inaccessible across Kenyan universities.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dogvibe3w34/mnt/agents/output/uni-archive/images/7_Kenya_Africa_s_innovation_hub_ShareAmeric.png">    </p:cNvPr>
          <p:cNvPicPr>
            <a:picLocks noChangeAspect="1"/>
          </p:cNvPicPr>
          <p:nvPr/>
        </p:nvPicPr>
        <p:blipFill>
          <a:blip r:embed="rId1"/>
          <a:srcRect l="0" r="0" t="7643" b="764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420">
                  <a:alpha val="91000"/>
                </a:srgbClr>
              </a:gs>
              <a:gs pos="60000">
                <a:srgbClr val="2D2420">
                  <a:alpha val="75000"/>
                </a:srgbClr>
              </a:gs>
              <a:gs pos="100000">
                <a:srgbClr val="2D2420">
                  <a:alpha val="3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Our Solution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016000" y="48895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143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 ARCHIVE — Built for Kenyan higher education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Introducing UNI ARCHIVE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pic>
        <p:nvPicPr>
          <p:cNvPr id="5" name="Image 0" descr="https://kimi-img.moonshot.cn/pub/slides/okc/xydogvibe3w34/mnt/agents/output/uni-archive/images/1_African_student_study_group_Images.png">    </p:cNvPr>
          <p:cNvPicPr>
            <a:picLocks noChangeAspect="1"/>
          </p:cNvPicPr>
          <p:nvPr/>
        </p:nvPicPr>
        <p:blipFill>
          <a:blip r:embed="rId1"/>
          <a:srcRect l="135" r="135" t="0" b="0"/>
          <a:stretch/>
        </p:blipFill>
        <p:spPr>
          <a:xfrm>
            <a:off x="762000" y="1778000"/>
            <a:ext cx="6096000" cy="4064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762000" y="6096000"/>
            <a:ext cx="609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revolutionary platform designed to overcome the challenges faced by Kenyan university students in accessing academic materials.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3000" y="1778000"/>
            <a:ext cx="50800" cy="1143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8" name="Shape 5"/>
          <p:cNvSpPr/>
          <p:nvPr/>
        </p:nvSpPr>
        <p:spPr>
          <a:xfrm>
            <a:off x="7810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9" name="Text 6"/>
          <p:cNvSpPr/>
          <p:nvPr/>
        </p:nvSpPr>
        <p:spPr>
          <a:xfrm>
            <a:off x="8382000" y="17780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Search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82000" y="2222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traditional keyword-based search with advanced semantic understanding for highly relevant results.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93000" y="3429000"/>
            <a:ext cx="50800" cy="1143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2" name="Shape 9"/>
          <p:cNvSpPr/>
          <p:nvPr/>
        </p:nvSpPr>
        <p:spPr>
          <a:xfrm>
            <a:off x="7861300" y="3492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241300"/>
                </a:lnTo>
                <a:lnTo>
                  <a:pt x="144542" y="241300"/>
                </a:lnTo>
                <a:lnTo>
                  <a:pt x="119936" y="216694"/>
                </a:lnTo>
                <a:cubicBezTo>
                  <a:pt x="112474" y="209233"/>
                  <a:pt x="112474" y="197168"/>
                  <a:pt x="119936" y="189786"/>
                </a:cubicBezTo>
                <a:cubicBezTo>
                  <a:pt x="127397" y="182404"/>
                  <a:pt x="139462" y="182324"/>
                  <a:pt x="146844" y="189786"/>
                </a:cubicBezTo>
                <a:lnTo>
                  <a:pt x="203994" y="246936"/>
                </a:lnTo>
                <a:cubicBezTo>
                  <a:pt x="211455" y="254397"/>
                  <a:pt x="211455" y="266462"/>
                  <a:pt x="203994" y="273844"/>
                </a:cubicBezTo>
                <a:lnTo>
                  <a:pt x="146844" y="330994"/>
                </a:lnTo>
                <a:cubicBezTo>
                  <a:pt x="139383" y="338455"/>
                  <a:pt x="127318" y="338455"/>
                  <a:pt x="119936" y="330994"/>
                </a:cubicBezTo>
                <a:cubicBezTo>
                  <a:pt x="112554" y="323533"/>
                  <a:pt x="112474" y="311467"/>
                  <a:pt x="119936" y="304086"/>
                </a:cubicBezTo>
                <a:lnTo>
                  <a:pt x="144542" y="279479"/>
                </a:lnTo>
                <a:lnTo>
                  <a:pt x="0" y="279479"/>
                </a:lnTo>
                <a:lnTo>
                  <a:pt x="0" y="355679"/>
                </a:lnTo>
                <a:cubicBezTo>
                  <a:pt x="0" y="383699"/>
                  <a:pt x="22781" y="406479"/>
                  <a:pt x="50800" y="406479"/>
                </a:cubicBezTo>
                <a:lnTo>
                  <a:pt x="254000" y="406479"/>
                </a:lnTo>
                <a:cubicBezTo>
                  <a:pt x="282019" y="406479"/>
                  <a:pt x="304800" y="383699"/>
                  <a:pt x="304800" y="355679"/>
                </a:cubicBezTo>
                <a:lnTo>
                  <a:pt x="304800" y="135414"/>
                </a:lnTo>
                <a:cubicBezTo>
                  <a:pt x="304800" y="121920"/>
                  <a:pt x="299482" y="108982"/>
                  <a:pt x="289957" y="99457"/>
                </a:cubicBezTo>
                <a:lnTo>
                  <a:pt x="205343" y="14843"/>
                </a:lnTo>
                <a:cubicBezTo>
                  <a:pt x="195818" y="5318"/>
                  <a:pt x="182959" y="0"/>
                  <a:pt x="169466" y="0"/>
                </a:cubicBezTo>
                <a:lnTo>
                  <a:pt x="50800" y="0"/>
                </a:lnTo>
                <a:close/>
                <a:moveTo>
                  <a:pt x="258366" y="139700"/>
                </a:moveTo>
                <a:lnTo>
                  <a:pt x="184150" y="139700"/>
                </a:lnTo>
                <a:cubicBezTo>
                  <a:pt x="173593" y="139700"/>
                  <a:pt x="165100" y="131207"/>
                  <a:pt x="165100" y="120650"/>
                </a:cubicBezTo>
                <a:lnTo>
                  <a:pt x="165100" y="46434"/>
                </a:lnTo>
                <a:lnTo>
                  <a:pt x="258366" y="139700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3" name="Text 10"/>
          <p:cNvSpPr/>
          <p:nvPr/>
        </p:nvSpPr>
        <p:spPr>
          <a:xfrm>
            <a:off x="8382000" y="34290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OCR Text Extraction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382000" y="3873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Transforms previously inaccessible scanned documents into fully searchable and editable text content.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93000" y="5080000"/>
            <a:ext cx="50800" cy="1143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6" name="Shape 13"/>
          <p:cNvSpPr/>
          <p:nvPr/>
        </p:nvSpPr>
        <p:spPr>
          <a:xfrm>
            <a:off x="7835900" y="5143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0" y="50800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Centralized Management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82000" y="5524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web-based platform storing all course readings, research papers, and institutional documents.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93000" y="6731000"/>
            <a:ext cx="8001000" cy="762000"/>
          </a:xfrm>
          <a:prstGeom prst="roundRect">
            <a:avLst>
              <a:gd name="adj" fmla="val 6000"/>
            </a:avLst>
          </a:prstGeom>
          <a:solidFill>
            <a:srgbClr val="EDE8E1"/>
          </a:solidFill>
          <a:ln/>
        </p:spPr>
      </p:sp>
      <p:sp>
        <p:nvSpPr>
          <p:cNvPr id="20" name="Text 17"/>
          <p:cNvSpPr/>
          <p:nvPr/>
        </p:nvSpPr>
        <p:spPr>
          <a:xfrm>
            <a:off x="7747000" y="6858000"/>
            <a:ext cx="749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Streamline academic workflow, making research efficient and accessible.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We Aim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6" name="Shape 4"/>
          <p:cNvSpPr/>
          <p:nvPr/>
        </p:nvSpPr>
        <p:spPr>
          <a:xfrm>
            <a:off x="1103313" y="2032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5146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Centralized Resource Mgmt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921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secure web platform with hierarchical academic metadata structure.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778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0" name="Shape 8"/>
          <p:cNvSpPr/>
          <p:nvPr/>
        </p:nvSpPr>
        <p:spPr>
          <a:xfrm>
            <a:off x="6072188" y="2032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23812"/>
                </a:moveTo>
                <a:cubicBezTo>
                  <a:pt x="154186" y="23812"/>
                  <a:pt x="106040" y="51197"/>
                  <a:pt x="70991" y="83790"/>
                </a:cubicBezTo>
                <a:cubicBezTo>
                  <a:pt x="36165" y="116160"/>
                  <a:pt x="12874" y="154781"/>
                  <a:pt x="1786" y="181347"/>
                </a:cubicBezTo>
                <a:cubicBezTo>
                  <a:pt x="-670" y="187226"/>
                  <a:pt x="-670" y="193774"/>
                  <a:pt x="1786" y="199653"/>
                </a:cubicBezTo>
                <a:cubicBezTo>
                  <a:pt x="12874" y="226219"/>
                  <a:pt x="36165" y="264914"/>
                  <a:pt x="70991" y="297210"/>
                </a:cubicBezTo>
                <a:cubicBezTo>
                  <a:pt x="106040" y="329729"/>
                  <a:pt x="154186" y="357188"/>
                  <a:pt x="214313" y="357188"/>
                </a:cubicBezTo>
                <a:cubicBezTo>
                  <a:pt x="274439" y="357188"/>
                  <a:pt x="322585" y="329803"/>
                  <a:pt x="357634" y="297210"/>
                </a:cubicBezTo>
                <a:cubicBezTo>
                  <a:pt x="392460" y="264840"/>
                  <a:pt x="415751" y="226219"/>
                  <a:pt x="426839" y="199653"/>
                </a:cubicBezTo>
                <a:cubicBezTo>
                  <a:pt x="429295" y="193774"/>
                  <a:pt x="429295" y="187226"/>
                  <a:pt x="426839" y="181347"/>
                </a:cubicBezTo>
                <a:cubicBezTo>
                  <a:pt x="415751" y="154781"/>
                  <a:pt x="392460" y="116086"/>
                  <a:pt x="357634" y="83790"/>
                </a:cubicBezTo>
                <a:cubicBezTo>
                  <a:pt x="322585" y="51271"/>
                  <a:pt x="274439" y="23812"/>
                  <a:pt x="214313" y="23812"/>
                </a:cubicBezTo>
                <a:close/>
                <a:moveTo>
                  <a:pt x="107156" y="190500"/>
                </a:moveTo>
                <a:cubicBezTo>
                  <a:pt x="107156" y="131359"/>
                  <a:pt x="155171" y="83344"/>
                  <a:pt x="214313" y="83344"/>
                </a:cubicBezTo>
                <a:cubicBezTo>
                  <a:pt x="273454" y="83344"/>
                  <a:pt x="321469" y="131359"/>
                  <a:pt x="321469" y="190500"/>
                </a:cubicBezTo>
                <a:cubicBezTo>
                  <a:pt x="321469" y="249641"/>
                  <a:pt x="273454" y="297656"/>
                  <a:pt x="214313" y="297656"/>
                </a:cubicBezTo>
                <a:cubicBezTo>
                  <a:pt x="155171" y="297656"/>
                  <a:pt x="107156" y="249641"/>
                  <a:pt x="107156" y="190500"/>
                </a:cubicBezTo>
                <a:close/>
                <a:moveTo>
                  <a:pt x="214313" y="142875"/>
                </a:moveTo>
                <a:cubicBezTo>
                  <a:pt x="214313" y="169143"/>
                  <a:pt x="192956" y="190500"/>
                  <a:pt x="166688" y="190500"/>
                </a:cubicBezTo>
                <a:cubicBezTo>
                  <a:pt x="158130" y="190500"/>
                  <a:pt x="150093" y="188268"/>
                  <a:pt x="143098" y="184249"/>
                </a:cubicBezTo>
                <a:cubicBezTo>
                  <a:pt x="142354" y="192360"/>
                  <a:pt x="143024" y="200695"/>
                  <a:pt x="145256" y="208955"/>
                </a:cubicBezTo>
                <a:cubicBezTo>
                  <a:pt x="155451" y="247055"/>
                  <a:pt x="194667" y="269677"/>
                  <a:pt x="232767" y="259482"/>
                </a:cubicBezTo>
                <a:cubicBezTo>
                  <a:pt x="270867" y="249287"/>
                  <a:pt x="293489" y="210071"/>
                  <a:pt x="283294" y="171971"/>
                </a:cubicBezTo>
                <a:cubicBezTo>
                  <a:pt x="274216" y="137964"/>
                  <a:pt x="241995" y="116309"/>
                  <a:pt x="208062" y="119286"/>
                </a:cubicBezTo>
                <a:cubicBezTo>
                  <a:pt x="212006" y="126206"/>
                  <a:pt x="214313" y="134243"/>
                  <a:pt x="214313" y="142875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5146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Text Extraction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6000" y="2921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OCR with preprocessing for enhanced accuracy on scanned documents.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778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203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/>
            </a:pathLst>
          </a:custGeom>
          <a:solidFill>
            <a:srgbClr val="B85C38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5146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Hybrid Search 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12500" y="2921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keyword (BM25) and semantic (Sentence-BERT, FAISS) search.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27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333375"/>
                </a:moveTo>
                <a:lnTo>
                  <a:pt x="47625" y="333375"/>
                </a:lnTo>
                <a:lnTo>
                  <a:pt x="47625" y="166688"/>
                </a:lnTo>
                <a:lnTo>
                  <a:pt x="83344" y="166688"/>
                </a:lnTo>
                <a:lnTo>
                  <a:pt x="83344" y="119063"/>
                </a:lnTo>
                <a:lnTo>
                  <a:pt x="47625" y="119063"/>
                </a:lnTo>
                <a:cubicBezTo>
                  <a:pt x="21357" y="119063"/>
                  <a:pt x="0" y="140419"/>
                  <a:pt x="0" y="166688"/>
                </a:cubicBezTo>
                <a:lnTo>
                  <a:pt x="0" y="333375"/>
                </a:lnTo>
                <a:cubicBezTo>
                  <a:pt x="0" y="359643"/>
                  <a:pt x="21357" y="381000"/>
                  <a:pt x="47625" y="381000"/>
                </a:cubicBezTo>
                <a:lnTo>
                  <a:pt x="214313" y="381000"/>
                </a:lnTo>
                <a:cubicBezTo>
                  <a:pt x="240581" y="381000"/>
                  <a:pt x="261938" y="359643"/>
                  <a:pt x="261938" y="333375"/>
                </a:cubicBezTo>
                <a:lnTo>
                  <a:pt x="261938" y="297656"/>
                </a:lnTo>
                <a:lnTo>
                  <a:pt x="214313" y="297656"/>
                </a:lnTo>
                <a:lnTo>
                  <a:pt x="214313" y="333375"/>
                </a:lnTo>
                <a:close/>
                <a:moveTo>
                  <a:pt x="166688" y="261938"/>
                </a:moveTo>
                <a:lnTo>
                  <a:pt x="333375" y="261938"/>
                </a:lnTo>
                <a:cubicBezTo>
                  <a:pt x="359643" y="261938"/>
                  <a:pt x="381000" y="240581"/>
                  <a:pt x="381000" y="214313"/>
                </a:cubicBezTo>
                <a:lnTo>
                  <a:pt x="381000" y="47625"/>
                </a:lnTo>
                <a:cubicBezTo>
                  <a:pt x="381000" y="21357"/>
                  <a:pt x="359643" y="0"/>
                  <a:pt x="333375" y="0"/>
                </a:cubicBezTo>
                <a:lnTo>
                  <a:pt x="166688" y="0"/>
                </a:lnTo>
                <a:cubicBezTo>
                  <a:pt x="140419" y="0"/>
                  <a:pt x="119063" y="21357"/>
                  <a:pt x="119063" y="47625"/>
                </a:cubicBezTo>
                <a:lnTo>
                  <a:pt x="119063" y="214313"/>
                </a:lnTo>
                <a:cubicBezTo>
                  <a:pt x="119063" y="240581"/>
                  <a:pt x="140419" y="261938"/>
                  <a:pt x="166688" y="261938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48641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Duplicate Detection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9500" y="527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perceptual hashing (pHash) to prevent redundant storage of documents.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127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48375" y="4381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61938" y="0"/>
                </a:moveTo>
                <a:cubicBezTo>
                  <a:pt x="261938" y="-13171"/>
                  <a:pt x="251296" y="-23812"/>
                  <a:pt x="238125" y="-23812"/>
                </a:cubicBezTo>
                <a:cubicBezTo>
                  <a:pt x="224954" y="-23812"/>
                  <a:pt x="214313" y="-13171"/>
                  <a:pt x="214313" y="0"/>
                </a:cubicBezTo>
                <a:lnTo>
                  <a:pt x="214313" y="47625"/>
                </a:lnTo>
                <a:lnTo>
                  <a:pt x="142875" y="47625"/>
                </a:lnTo>
                <a:cubicBezTo>
                  <a:pt x="103436" y="47625"/>
                  <a:pt x="71438" y="79623"/>
                  <a:pt x="71438" y="119063"/>
                </a:cubicBezTo>
                <a:lnTo>
                  <a:pt x="71438" y="285750"/>
                </a:lnTo>
                <a:cubicBezTo>
                  <a:pt x="71438" y="325189"/>
                  <a:pt x="103436" y="357188"/>
                  <a:pt x="142875" y="357188"/>
                </a:cubicBezTo>
                <a:lnTo>
                  <a:pt x="333375" y="357188"/>
                </a:lnTo>
                <a:cubicBezTo>
                  <a:pt x="372814" y="357188"/>
                  <a:pt x="404813" y="325189"/>
                  <a:pt x="404813" y="285750"/>
                </a:cubicBezTo>
                <a:lnTo>
                  <a:pt x="404813" y="119063"/>
                </a:lnTo>
                <a:cubicBezTo>
                  <a:pt x="404813" y="79623"/>
                  <a:pt x="372814" y="47625"/>
                  <a:pt x="333375" y="47625"/>
                </a:cubicBezTo>
                <a:lnTo>
                  <a:pt x="261938" y="47625"/>
                </a:lnTo>
                <a:lnTo>
                  <a:pt x="261938" y="0"/>
                </a:lnTo>
                <a:close/>
                <a:moveTo>
                  <a:pt x="119063" y="273844"/>
                </a:moveTo>
                <a:cubicBezTo>
                  <a:pt x="119063" y="263947"/>
                  <a:pt x="127025" y="255984"/>
                  <a:pt x="136922" y="255984"/>
                </a:cubicBezTo>
                <a:lnTo>
                  <a:pt x="160734" y="255984"/>
                </a:lnTo>
                <a:cubicBezTo>
                  <a:pt x="170631" y="255984"/>
                  <a:pt x="178594" y="263947"/>
                  <a:pt x="178594" y="273844"/>
                </a:cubicBezTo>
                <a:cubicBezTo>
                  <a:pt x="178594" y="283741"/>
                  <a:pt x="170631" y="291703"/>
                  <a:pt x="160734" y="291703"/>
                </a:cubicBezTo>
                <a:lnTo>
                  <a:pt x="136922" y="291703"/>
                </a:lnTo>
                <a:cubicBezTo>
                  <a:pt x="127025" y="291703"/>
                  <a:pt x="119063" y="283741"/>
                  <a:pt x="119063" y="273844"/>
                </a:cubicBezTo>
                <a:close/>
                <a:moveTo>
                  <a:pt x="208359" y="273844"/>
                </a:moveTo>
                <a:cubicBezTo>
                  <a:pt x="208359" y="263947"/>
                  <a:pt x="216322" y="255984"/>
                  <a:pt x="226219" y="255984"/>
                </a:cubicBezTo>
                <a:lnTo>
                  <a:pt x="250031" y="255984"/>
                </a:lnTo>
                <a:cubicBezTo>
                  <a:pt x="259928" y="255984"/>
                  <a:pt x="267891" y="263947"/>
                  <a:pt x="267891" y="273844"/>
                </a:cubicBezTo>
                <a:cubicBezTo>
                  <a:pt x="267891" y="283741"/>
                  <a:pt x="259928" y="291703"/>
                  <a:pt x="250031" y="291703"/>
                </a:cubicBezTo>
                <a:lnTo>
                  <a:pt x="226219" y="291703"/>
                </a:lnTo>
                <a:cubicBezTo>
                  <a:pt x="216322" y="291703"/>
                  <a:pt x="208359" y="283741"/>
                  <a:pt x="208359" y="273844"/>
                </a:cubicBezTo>
                <a:close/>
                <a:moveTo>
                  <a:pt x="297656" y="273844"/>
                </a:moveTo>
                <a:cubicBezTo>
                  <a:pt x="297656" y="263947"/>
                  <a:pt x="305619" y="255984"/>
                  <a:pt x="315516" y="255984"/>
                </a:cubicBezTo>
                <a:lnTo>
                  <a:pt x="339328" y="255984"/>
                </a:lnTo>
                <a:cubicBezTo>
                  <a:pt x="349225" y="255984"/>
                  <a:pt x="357188" y="263947"/>
                  <a:pt x="357188" y="273844"/>
                </a:cubicBezTo>
                <a:cubicBezTo>
                  <a:pt x="357188" y="283741"/>
                  <a:pt x="349225" y="291703"/>
                  <a:pt x="339328" y="291703"/>
                </a:cubicBezTo>
                <a:lnTo>
                  <a:pt x="315516" y="291703"/>
                </a:lnTo>
                <a:cubicBezTo>
                  <a:pt x="305619" y="291703"/>
                  <a:pt x="297656" y="283741"/>
                  <a:pt x="297656" y="273844"/>
                </a:cubicBezTo>
                <a:close/>
                <a:moveTo>
                  <a:pt x="166688" y="130969"/>
                </a:moveTo>
                <a:cubicBezTo>
                  <a:pt x="186401" y="130969"/>
                  <a:pt x="202406" y="146974"/>
                  <a:pt x="202406" y="166688"/>
                </a:cubicBezTo>
                <a:cubicBezTo>
                  <a:pt x="202406" y="186401"/>
                  <a:pt x="186401" y="202406"/>
                  <a:pt x="166688" y="202406"/>
                </a:cubicBezTo>
                <a:cubicBezTo>
                  <a:pt x="146974" y="202406"/>
                  <a:pt x="130969" y="186401"/>
                  <a:pt x="130969" y="166688"/>
                </a:cubicBezTo>
                <a:cubicBezTo>
                  <a:pt x="130969" y="146974"/>
                  <a:pt x="146974" y="130969"/>
                  <a:pt x="166688" y="130969"/>
                </a:cubicBezTo>
                <a:close/>
                <a:moveTo>
                  <a:pt x="273844" y="166688"/>
                </a:moveTo>
                <a:cubicBezTo>
                  <a:pt x="273844" y="146974"/>
                  <a:pt x="289849" y="130969"/>
                  <a:pt x="309563" y="130969"/>
                </a:cubicBezTo>
                <a:cubicBezTo>
                  <a:pt x="329276" y="130969"/>
                  <a:pt x="345281" y="146974"/>
                  <a:pt x="345281" y="166688"/>
                </a:cubicBezTo>
                <a:cubicBezTo>
                  <a:pt x="345281" y="186401"/>
                  <a:pt x="329276" y="202406"/>
                  <a:pt x="309563" y="202406"/>
                </a:cubicBezTo>
                <a:cubicBezTo>
                  <a:pt x="289849" y="202406"/>
                  <a:pt x="273844" y="186401"/>
                  <a:pt x="273844" y="166688"/>
                </a:cubicBezTo>
                <a:close/>
                <a:moveTo>
                  <a:pt x="47625" y="166688"/>
                </a:moveTo>
                <a:cubicBezTo>
                  <a:pt x="47625" y="153516"/>
                  <a:pt x="36984" y="142875"/>
                  <a:pt x="23812" y="142875"/>
                </a:cubicBezTo>
                <a:cubicBezTo>
                  <a:pt x="10641" y="142875"/>
                  <a:pt x="0" y="153516"/>
                  <a:pt x="0" y="166688"/>
                </a:cubicBezTo>
                <a:lnTo>
                  <a:pt x="0" y="238125"/>
                </a:lnTo>
                <a:cubicBezTo>
                  <a:pt x="0" y="251296"/>
                  <a:pt x="10641" y="261938"/>
                  <a:pt x="23812" y="261938"/>
                </a:cubicBezTo>
                <a:cubicBezTo>
                  <a:pt x="36984" y="261938"/>
                  <a:pt x="47625" y="251296"/>
                  <a:pt x="47625" y="238125"/>
                </a:cubicBezTo>
                <a:lnTo>
                  <a:pt x="47625" y="166688"/>
                </a:lnTo>
                <a:close/>
                <a:moveTo>
                  <a:pt x="452438" y="142875"/>
                </a:moveTo>
                <a:cubicBezTo>
                  <a:pt x="439266" y="142875"/>
                  <a:pt x="428625" y="153516"/>
                  <a:pt x="428625" y="166688"/>
                </a:cubicBezTo>
                <a:lnTo>
                  <a:pt x="428625" y="238125"/>
                </a:lnTo>
                <a:cubicBezTo>
                  <a:pt x="428625" y="251296"/>
                  <a:pt x="439266" y="261938"/>
                  <a:pt x="452438" y="261938"/>
                </a:cubicBezTo>
                <a:cubicBezTo>
                  <a:pt x="465609" y="261938"/>
                  <a:pt x="476250" y="251296"/>
                  <a:pt x="476250" y="238125"/>
                </a:cubicBezTo>
                <a:lnTo>
                  <a:pt x="476250" y="166688"/>
                </a:lnTo>
                <a:cubicBezTo>
                  <a:pt x="476250" y="153516"/>
                  <a:pt x="465609" y="142875"/>
                  <a:pt x="452438" y="142875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0" y="48641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RAG-Inspired Pipeline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96000" y="527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 Retrieval-Augmented Generation for resource-constrained environments.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127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1250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27" name="Text 25"/>
          <p:cNvSpPr/>
          <p:nvPr/>
        </p:nvSpPr>
        <p:spPr>
          <a:xfrm>
            <a:off x="11112500" y="48641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Evaluation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12500" y="527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effectiveness using CER, WER, nDCG@10, and MRR metrics.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604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B85C38"/>
          </a:solidFill>
          <a:ln/>
        </p:spPr>
      </p:sp>
      <p:sp>
        <p:nvSpPr>
          <p:cNvPr id="30" name="Text 28"/>
          <p:cNvSpPr/>
          <p:nvPr/>
        </p:nvSpPr>
        <p:spPr>
          <a:xfrm>
            <a:off x="1270000" y="6731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objectives designed with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Kenyan university constraints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mind — low bandwidth, limited compute, and diverse document formats.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UNI ARCHIVE vs Existing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 ARCHIVE Advantage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38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Google Drive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academic metadata structure; limited semantic search &amp; duplicate detection; fragmented access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D6B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Hierarchical academic organization; hybrid semantic + keyword search; perceptual hashing for deduplication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University Library Repos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 on faculty research only; manual cataloguing bottlenecks; limited OCR integration &amp; traditional IR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D6B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Supports teaching materials &amp; student contributions; automated processing pipeline &amp; modern semantic retrieval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DeepTutor (AI)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computational complexity &amp; LLM dependency; risk of hallucination &amp; scope creep; complex deployment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D6B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Lightweight, deterministic, focused retrieval; simple deployment in resource-constrained environments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Informal Sharing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organization, searchability, or metadata; redundant storage &amp; limited access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D6B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Centralized searchable repository &amp; academic categorization; version control &amp; universal access by enrollment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1755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3D6B4F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73025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 ARCHIVE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only solution designed specifically for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Kenyan university resource constraints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dogvibe3w34/mnt/agents/output/uni-archive/images/8_7_328_Africa_University_Students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420">
                  <a:alpha val="91000"/>
                </a:srgbClr>
              </a:gs>
              <a:gs pos="60000">
                <a:srgbClr val="2D2420">
                  <a:alpha val="75000"/>
                </a:srgbClr>
              </a:gs>
              <a:gs pos="100000">
                <a:srgbClr val="2D2420">
                  <a:alpha val="3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System Architecture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016000" y="48895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143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design, workflows, and technologies powering UNI ARCHIVE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WORKFLOWS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How UNI ARCHIVE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B85C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Document Processing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635000" cy="6350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7" name="Shape 5"/>
          <p:cNvSpPr/>
          <p:nvPr/>
        </p:nvSpPr>
        <p:spPr>
          <a:xfrm>
            <a:off x="923925" y="2362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75912"/>
                </a:moveTo>
                <a:lnTo>
                  <a:pt x="177800" y="222250"/>
                </a:lnTo>
                <a:cubicBezTo>
                  <a:pt x="177800" y="234543"/>
                  <a:pt x="167868" y="244475"/>
                  <a:pt x="155575" y="244475"/>
                </a:cubicBezTo>
                <a:cubicBezTo>
                  <a:pt x="143282" y="244475"/>
                  <a:pt x="133350" y="234543"/>
                  <a:pt x="133350" y="222250"/>
                </a:cubicBezTo>
                <a:lnTo>
                  <a:pt x="133350" y="75912"/>
                </a:lnTo>
                <a:lnTo>
                  <a:pt x="104596" y="104666"/>
                </a:lnTo>
                <a:cubicBezTo>
                  <a:pt x="95915" y="113348"/>
                  <a:pt x="81816" y="113348"/>
                  <a:pt x="73134" y="104666"/>
                </a:cubicBezTo>
                <a:cubicBezTo>
                  <a:pt x="64453" y="95984"/>
                  <a:pt x="64453" y="81885"/>
                  <a:pt x="73134" y="73204"/>
                </a:cubicBezTo>
                <a:lnTo>
                  <a:pt x="139809" y="6529"/>
                </a:lnTo>
                <a:cubicBezTo>
                  <a:pt x="148491" y="-2153"/>
                  <a:pt x="162590" y="-2153"/>
                  <a:pt x="171271" y="6529"/>
                </a:cubicBezTo>
                <a:lnTo>
                  <a:pt x="237946" y="73204"/>
                </a:lnTo>
                <a:cubicBezTo>
                  <a:pt x="246628" y="81885"/>
                  <a:pt x="246628" y="95984"/>
                  <a:pt x="237946" y="104666"/>
                </a:cubicBezTo>
                <a:cubicBezTo>
                  <a:pt x="229265" y="113348"/>
                  <a:pt x="215166" y="113348"/>
                  <a:pt x="206484" y="104666"/>
                </a:cubicBezTo>
                <a:lnTo>
                  <a:pt x="177800" y="75912"/>
                </a:lnTo>
                <a:close/>
                <a:moveTo>
                  <a:pt x="155575" y="277813"/>
                </a:moveTo>
                <a:cubicBezTo>
                  <a:pt x="186273" y="277813"/>
                  <a:pt x="211138" y="252948"/>
                  <a:pt x="211138" y="222250"/>
                </a:cubicBezTo>
                <a:lnTo>
                  <a:pt x="266700" y="222250"/>
                </a:lnTo>
                <a:cubicBezTo>
                  <a:pt x="291217" y="222250"/>
                  <a:pt x="311150" y="242183"/>
                  <a:pt x="311150" y="2667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266700"/>
                </a:lnTo>
                <a:cubicBezTo>
                  <a:pt x="0" y="242183"/>
                  <a:pt x="19933" y="222250"/>
                  <a:pt x="44450" y="222250"/>
                </a:cubicBezTo>
                <a:lnTo>
                  <a:pt x="100013" y="222250"/>
                </a:lnTo>
                <a:cubicBezTo>
                  <a:pt x="100013" y="252948"/>
                  <a:pt x="124877" y="277813"/>
                  <a:pt x="155575" y="277813"/>
                </a:cubicBezTo>
                <a:close/>
                <a:moveTo>
                  <a:pt x="255587" y="294481"/>
                </a:moveTo>
                <a:cubicBezTo>
                  <a:pt x="264787" y="294481"/>
                  <a:pt x="272256" y="287012"/>
                  <a:pt x="272256" y="277813"/>
                </a:cubicBezTo>
                <a:cubicBezTo>
                  <a:pt x="272256" y="268613"/>
                  <a:pt x="264787" y="261144"/>
                  <a:pt x="255587" y="261144"/>
                </a:cubicBezTo>
                <a:cubicBezTo>
                  <a:pt x="246388" y="261144"/>
                  <a:pt x="238919" y="268613"/>
                  <a:pt x="238919" y="277813"/>
                </a:cubicBezTo>
                <a:cubicBezTo>
                  <a:pt x="238919" y="287012"/>
                  <a:pt x="246388" y="294481"/>
                  <a:pt x="255587" y="2944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9464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24000" y="25146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667000" y="2222500"/>
            <a:ext cx="635000" cy="6350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1" name="Shape 9"/>
          <p:cNvSpPr/>
          <p:nvPr/>
        </p:nvSpPr>
        <p:spPr>
          <a:xfrm>
            <a:off x="2784475" y="2362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13000" y="29464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25146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2222500"/>
            <a:ext cx="635000" cy="6350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11700" y="236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99000" y="29464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0" y="25146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477000" y="2222500"/>
            <a:ext cx="635000" cy="6350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1150" y="23622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73563" y="46395"/>
                </a:moveTo>
                <a:cubicBezTo>
                  <a:pt x="180786" y="36463"/>
                  <a:pt x="178564" y="22572"/>
                  <a:pt x="168632" y="15349"/>
                </a:cubicBezTo>
                <a:cubicBezTo>
                  <a:pt x="158700" y="8126"/>
                  <a:pt x="144810" y="10349"/>
                  <a:pt x="137587" y="20280"/>
                </a:cubicBezTo>
                <a:lnTo>
                  <a:pt x="63966" y="121474"/>
                </a:lnTo>
                <a:lnTo>
                  <a:pt x="37921" y="95429"/>
                </a:lnTo>
                <a:cubicBezTo>
                  <a:pt x="29240" y="86747"/>
                  <a:pt x="15141" y="86747"/>
                  <a:pt x="6459" y="95429"/>
                </a:cubicBezTo>
                <a:cubicBezTo>
                  <a:pt x="-2222" y="104110"/>
                  <a:pt x="-2222" y="118209"/>
                  <a:pt x="6459" y="126891"/>
                </a:cubicBezTo>
                <a:lnTo>
                  <a:pt x="50909" y="171341"/>
                </a:lnTo>
                <a:cubicBezTo>
                  <a:pt x="55493" y="175925"/>
                  <a:pt x="61883" y="178286"/>
                  <a:pt x="68342" y="177800"/>
                </a:cubicBezTo>
                <a:cubicBezTo>
                  <a:pt x="74801" y="177314"/>
                  <a:pt x="80774" y="173980"/>
                  <a:pt x="84594" y="168702"/>
                </a:cubicBezTo>
                <a:lnTo>
                  <a:pt x="173494" y="46464"/>
                </a:lnTo>
                <a:close/>
                <a:moveTo>
                  <a:pt x="262463" y="140851"/>
                </a:moveTo>
                <a:cubicBezTo>
                  <a:pt x="269686" y="130919"/>
                  <a:pt x="267464" y="117029"/>
                  <a:pt x="257532" y="109805"/>
                </a:cubicBezTo>
                <a:cubicBezTo>
                  <a:pt x="247600" y="102582"/>
                  <a:pt x="233710" y="104805"/>
                  <a:pt x="226487" y="114737"/>
                </a:cubicBezTo>
                <a:lnTo>
                  <a:pt x="108416" y="277049"/>
                </a:lnTo>
                <a:lnTo>
                  <a:pt x="60146" y="228779"/>
                </a:lnTo>
                <a:cubicBezTo>
                  <a:pt x="51465" y="220097"/>
                  <a:pt x="37366" y="220097"/>
                  <a:pt x="28684" y="228779"/>
                </a:cubicBezTo>
                <a:cubicBezTo>
                  <a:pt x="20002" y="237460"/>
                  <a:pt x="20002" y="251559"/>
                  <a:pt x="28684" y="260241"/>
                </a:cubicBezTo>
                <a:lnTo>
                  <a:pt x="95359" y="326916"/>
                </a:lnTo>
                <a:cubicBezTo>
                  <a:pt x="99943" y="331500"/>
                  <a:pt x="106333" y="333861"/>
                  <a:pt x="112792" y="333375"/>
                </a:cubicBezTo>
                <a:cubicBezTo>
                  <a:pt x="119251" y="332889"/>
                  <a:pt x="125224" y="329555"/>
                  <a:pt x="129044" y="324277"/>
                </a:cubicBezTo>
                <a:lnTo>
                  <a:pt x="262394" y="1409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0000" y="2946400"/>
            <a:ext cx="88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39000" y="25146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382000" y="2222500"/>
            <a:ext cx="635000" cy="6350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21700" y="236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128000" y="2946400"/>
            <a:ext cx="120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Deduplicate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33655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uploaded, processed via OCR with quality checks, and deduplicated before storage.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3873500"/>
            <a:ext cx="14732000" cy="127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B85C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Storage &amp; Indexing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62000" y="4635500"/>
            <a:ext cx="3302000" cy="571500"/>
          </a:xfrm>
          <a:prstGeom prst="roundRect">
            <a:avLst>
              <a:gd name="adj" fmla="val 10000"/>
            </a:avLst>
          </a:prstGeom>
          <a:solidFill>
            <a:srgbClr val="B85C38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4635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Docs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91000" y="4889500"/>
            <a:ext cx="635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953000" y="4635500"/>
            <a:ext cx="3302000" cy="571500"/>
          </a:xfrm>
          <a:prstGeom prst="roundRect">
            <a:avLst>
              <a:gd name="adj" fmla="val 10000"/>
            </a:avLst>
          </a:prstGeom>
          <a:solidFill>
            <a:srgbClr val="9E4D2F"/>
          </a:solidFill>
          <a:ln/>
        </p:spPr>
      </p:sp>
      <p:sp>
        <p:nvSpPr>
          <p:cNvPr id="32" name="Text 30"/>
          <p:cNvSpPr/>
          <p:nvPr/>
        </p:nvSpPr>
        <p:spPr>
          <a:xfrm>
            <a:off x="4953000" y="4635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Store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4889500"/>
            <a:ext cx="635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9144000" y="4635500"/>
            <a:ext cx="3302000" cy="571500"/>
          </a:xfrm>
          <a:prstGeom prst="roundRect">
            <a:avLst>
              <a:gd name="adj" fmla="val 10000"/>
            </a:avLst>
          </a:prstGeom>
          <a:solidFill>
            <a:srgbClr val="7A6B5D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4635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 Text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573000" y="4889500"/>
            <a:ext cx="635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3335000" y="4635500"/>
            <a:ext cx="2159000" cy="571500"/>
          </a:xfrm>
          <a:prstGeom prst="roundRect">
            <a:avLst>
              <a:gd name="adj" fmla="val 10000"/>
            </a:avLst>
          </a:prstGeom>
          <a:solidFill>
            <a:srgbClr val="3D6B4F"/>
          </a:solidFill>
          <a:ln/>
        </p:spPr>
      </p:sp>
      <p:sp>
        <p:nvSpPr>
          <p:cNvPr id="38" name="Text 36"/>
          <p:cNvSpPr/>
          <p:nvPr/>
        </p:nvSpPr>
        <p:spPr>
          <a:xfrm>
            <a:off x="13335000" y="4635500"/>
            <a:ext cx="215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Index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5397500"/>
            <a:ext cx="1016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 documents stored relationally, with embeddings and full-text indexes for efficient retrieval.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5905500"/>
            <a:ext cx="14732000" cy="127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609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B85C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Search &amp; Retrieval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62000" y="6604000"/>
            <a:ext cx="635000" cy="6350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43" name="Shape 41"/>
          <p:cNvSpPr/>
          <p:nvPr/>
        </p:nvSpPr>
        <p:spPr>
          <a:xfrm>
            <a:off x="923925" y="67437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08000" y="73279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524000" y="68961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667000" y="6604000"/>
            <a:ext cx="635000" cy="6350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47" name="Shape 45"/>
          <p:cNvSpPr/>
          <p:nvPr/>
        </p:nvSpPr>
        <p:spPr>
          <a:xfrm>
            <a:off x="2806700" y="6743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476500" y="73279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 Query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29000" y="68961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572000" y="6604000"/>
            <a:ext cx="635000" cy="6350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51" name="Shape 49"/>
          <p:cNvSpPr/>
          <p:nvPr/>
        </p:nvSpPr>
        <p:spPr>
          <a:xfrm>
            <a:off x="4711700" y="6743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946" y="-15696"/>
                </a:moveTo>
                <a:cubicBezTo>
                  <a:pt x="229265" y="-24378"/>
                  <a:pt x="215166" y="-24378"/>
                  <a:pt x="206484" y="-15696"/>
                </a:cubicBezTo>
                <a:lnTo>
                  <a:pt x="139809" y="50979"/>
                </a:lnTo>
                <a:cubicBezTo>
                  <a:pt x="131128" y="59660"/>
                  <a:pt x="131128" y="73759"/>
                  <a:pt x="139809" y="82441"/>
                </a:cubicBezTo>
                <a:cubicBezTo>
                  <a:pt x="148491" y="91122"/>
                  <a:pt x="162590" y="91122"/>
                  <a:pt x="171271" y="82441"/>
                </a:cubicBezTo>
                <a:lnTo>
                  <a:pt x="200025" y="53687"/>
                </a:lnTo>
                <a:lnTo>
                  <a:pt x="200025" y="189746"/>
                </a:lnTo>
                <a:cubicBezTo>
                  <a:pt x="186968" y="182176"/>
                  <a:pt x="171758" y="177869"/>
                  <a:pt x="155575" y="177869"/>
                </a:cubicBezTo>
                <a:lnTo>
                  <a:pt x="75912" y="177869"/>
                </a:lnTo>
                <a:lnTo>
                  <a:pt x="104666" y="149116"/>
                </a:lnTo>
                <a:cubicBezTo>
                  <a:pt x="113348" y="140434"/>
                  <a:pt x="113348" y="126335"/>
                  <a:pt x="104666" y="117654"/>
                </a:cubicBezTo>
                <a:cubicBezTo>
                  <a:pt x="95984" y="108972"/>
                  <a:pt x="81885" y="108972"/>
                  <a:pt x="73204" y="117654"/>
                </a:cubicBezTo>
                <a:lnTo>
                  <a:pt x="6529" y="184329"/>
                </a:lnTo>
                <a:cubicBezTo>
                  <a:pt x="-2153" y="193010"/>
                  <a:pt x="-2153" y="207109"/>
                  <a:pt x="6529" y="215791"/>
                </a:cubicBezTo>
                <a:lnTo>
                  <a:pt x="73204" y="282466"/>
                </a:lnTo>
                <a:cubicBezTo>
                  <a:pt x="81885" y="291148"/>
                  <a:pt x="95984" y="291148"/>
                  <a:pt x="104666" y="282466"/>
                </a:cubicBezTo>
                <a:cubicBezTo>
                  <a:pt x="113348" y="273784"/>
                  <a:pt x="113348" y="259685"/>
                  <a:pt x="104666" y="251004"/>
                </a:cubicBezTo>
                <a:lnTo>
                  <a:pt x="75912" y="222250"/>
                </a:lnTo>
                <a:lnTo>
                  <a:pt x="155575" y="222250"/>
                </a:lnTo>
                <a:cubicBezTo>
                  <a:pt x="180092" y="222250"/>
                  <a:pt x="200025" y="242183"/>
                  <a:pt x="200025" y="266700"/>
                </a:cubicBezTo>
                <a:cubicBezTo>
                  <a:pt x="200025" y="315803"/>
                  <a:pt x="239822" y="355600"/>
                  <a:pt x="288925" y="355600"/>
                </a:cubicBezTo>
                <a:lnTo>
                  <a:pt x="311150" y="355600"/>
                </a:lnTo>
                <a:cubicBezTo>
                  <a:pt x="323443" y="355600"/>
                  <a:pt x="333375" y="345668"/>
                  <a:pt x="333375" y="333375"/>
                </a:cubicBezTo>
                <a:cubicBezTo>
                  <a:pt x="333375" y="321082"/>
                  <a:pt x="323443" y="311150"/>
                  <a:pt x="311150" y="311150"/>
                </a:cubicBezTo>
                <a:lnTo>
                  <a:pt x="288925" y="311150"/>
                </a:lnTo>
                <a:cubicBezTo>
                  <a:pt x="264408" y="311150"/>
                  <a:pt x="244475" y="291217"/>
                  <a:pt x="244475" y="266700"/>
                </a:cubicBezTo>
                <a:lnTo>
                  <a:pt x="244475" y="53687"/>
                </a:lnTo>
                <a:lnTo>
                  <a:pt x="273229" y="82441"/>
                </a:lnTo>
                <a:cubicBezTo>
                  <a:pt x="281910" y="91123"/>
                  <a:pt x="296009" y="91123"/>
                  <a:pt x="304691" y="82441"/>
                </a:cubicBezTo>
                <a:cubicBezTo>
                  <a:pt x="313373" y="73759"/>
                  <a:pt x="313373" y="59660"/>
                  <a:pt x="304691" y="50979"/>
                </a:cubicBezTo>
                <a:lnTo>
                  <a:pt x="238016" y="-1569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191000" y="73279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34000" y="68961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6477000" y="6604000"/>
            <a:ext cx="635000" cy="6350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55" name="Shape 53"/>
          <p:cNvSpPr/>
          <p:nvPr/>
        </p:nvSpPr>
        <p:spPr>
          <a:xfrm>
            <a:off x="6594475" y="67437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286500" y="73279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 Results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239000" y="6896100"/>
            <a:ext cx="1016000" cy="0"/>
          </a:xfrm>
          <a:prstGeom prst="straightConnector1">
            <a:avLst/>
          </a:prstGeom>
          <a:noFill/>
          <a:ln w="25400">
            <a:solidFill>
              <a:srgbClr val="8C7B6B"/>
            </a:solidFill>
            <a:prstDash val="solid"/>
            <a:headEnd type="none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8382000" y="6604000"/>
            <a:ext cx="635000" cy="6350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59" name="Shape 57"/>
          <p:cNvSpPr/>
          <p:nvPr/>
        </p:nvSpPr>
        <p:spPr>
          <a:xfrm>
            <a:off x="8566150" y="67437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001000" y="73279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Results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2000" y="7810500"/>
            <a:ext cx="1016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queries trigger parallel keyword and semantic searches, with results fused for optimal relevance.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016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C7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Built on a robust, modern stack leveraging cutting-edge open-source technologies.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4699000" cy="2667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7" name="Shape 5"/>
          <p:cNvSpPr/>
          <p:nvPr/>
        </p:nvSpPr>
        <p:spPr>
          <a:xfrm>
            <a:off x="1022350" y="2540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514350" y="300038"/>
                </a:lnTo>
                <a:lnTo>
                  <a:pt x="457200" y="300038"/>
                </a:lnTo>
                <a:lnTo>
                  <a:pt x="457200" y="85725"/>
                </a:lnTo>
                <a:lnTo>
                  <a:pt x="114300" y="85725"/>
                </a:lnTo>
                <a:lnTo>
                  <a:pt x="114300" y="300038"/>
                </a:lnTo>
                <a:lnTo>
                  <a:pt x="57150" y="300038"/>
                </a:lnTo>
                <a:lnTo>
                  <a:pt x="57150" y="85725"/>
                </a:lnTo>
                <a:close/>
                <a:moveTo>
                  <a:pt x="0" y="360045"/>
                </a:moveTo>
                <a:cubicBezTo>
                  <a:pt x="0" y="350580"/>
                  <a:pt x="7680" y="342900"/>
                  <a:pt x="17145" y="342900"/>
                </a:cubicBezTo>
                <a:lnTo>
                  <a:pt x="554355" y="342900"/>
                </a:lnTo>
                <a:cubicBezTo>
                  <a:pt x="563820" y="342900"/>
                  <a:pt x="571500" y="350580"/>
                  <a:pt x="571500" y="360045"/>
                </a:cubicBezTo>
                <a:cubicBezTo>
                  <a:pt x="571500" y="397907"/>
                  <a:pt x="540782" y="428625"/>
                  <a:pt x="502920" y="428625"/>
                </a:cubicBezTo>
                <a:lnTo>
                  <a:pt x="68580" y="428625"/>
                </a:lnTo>
                <a:cubicBezTo>
                  <a:pt x="30718" y="428625"/>
                  <a:pt x="0" y="397907"/>
                  <a:pt x="0" y="360045"/>
                </a:cubicBezTo>
                <a:close/>
                <a:moveTo>
                  <a:pt x="250924" y="186630"/>
                </a:moveTo>
                <a:lnTo>
                  <a:pt x="223242" y="214313"/>
                </a:lnTo>
                <a:lnTo>
                  <a:pt x="250924" y="241995"/>
                </a:lnTo>
                <a:cubicBezTo>
                  <a:pt x="259318" y="250388"/>
                  <a:pt x="259318" y="263962"/>
                  <a:pt x="250924" y="272266"/>
                </a:cubicBezTo>
                <a:cubicBezTo>
                  <a:pt x="242530" y="280571"/>
                  <a:pt x="228957" y="280660"/>
                  <a:pt x="220653" y="272266"/>
                </a:cubicBezTo>
                <a:lnTo>
                  <a:pt x="177790" y="229404"/>
                </a:lnTo>
                <a:cubicBezTo>
                  <a:pt x="169396" y="221010"/>
                  <a:pt x="169396" y="207437"/>
                  <a:pt x="177790" y="199132"/>
                </a:cubicBezTo>
                <a:lnTo>
                  <a:pt x="220653" y="156270"/>
                </a:lnTo>
                <a:cubicBezTo>
                  <a:pt x="229046" y="147876"/>
                  <a:pt x="242620" y="147876"/>
                  <a:pt x="250924" y="156270"/>
                </a:cubicBezTo>
                <a:cubicBezTo>
                  <a:pt x="259229" y="164663"/>
                  <a:pt x="259318" y="178237"/>
                  <a:pt x="250924" y="186541"/>
                </a:cubicBezTo>
                <a:close/>
                <a:moveTo>
                  <a:pt x="350937" y="156270"/>
                </a:moveTo>
                <a:lnTo>
                  <a:pt x="393799" y="199132"/>
                </a:lnTo>
                <a:cubicBezTo>
                  <a:pt x="402193" y="207526"/>
                  <a:pt x="402193" y="221099"/>
                  <a:pt x="393799" y="229404"/>
                </a:cubicBezTo>
                <a:lnTo>
                  <a:pt x="350937" y="272266"/>
                </a:lnTo>
                <a:cubicBezTo>
                  <a:pt x="342543" y="280660"/>
                  <a:pt x="328970" y="280660"/>
                  <a:pt x="320665" y="272266"/>
                </a:cubicBezTo>
                <a:cubicBezTo>
                  <a:pt x="312360" y="263872"/>
                  <a:pt x="312271" y="250299"/>
                  <a:pt x="320665" y="241995"/>
                </a:cubicBezTo>
                <a:lnTo>
                  <a:pt x="348347" y="214313"/>
                </a:lnTo>
                <a:lnTo>
                  <a:pt x="320665" y="186630"/>
                </a:lnTo>
                <a:cubicBezTo>
                  <a:pt x="312271" y="178237"/>
                  <a:pt x="312271" y="164663"/>
                  <a:pt x="320665" y="156359"/>
                </a:cubicBezTo>
                <a:cubicBezTo>
                  <a:pt x="329059" y="148054"/>
                  <a:pt x="342632" y="147965"/>
                  <a:pt x="350937" y="156359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11150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Frontend: React &amp; TypeScript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9500" y="35814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Delivers a dynamic, responsive, and type-safe user interface for seamless interaction with the archive.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286000"/>
            <a:ext cx="4699000" cy="2667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6124575" y="2540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11150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Backend: Python &amp; FastAPI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6000" y="35814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Powers the high-performance API and business logic, ensuring rapid processing and scalable operations.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286000"/>
            <a:ext cx="4699000" cy="2667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41075" y="2540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11112500" y="311150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Database: PostgreSQL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12500" y="35814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Securely stores all academic metadata and document references with robust relational data management.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270500"/>
            <a:ext cx="7048500" cy="2667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3D6B4F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60960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ML/AI: Sentence-BERT &amp; FAISS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79500" y="65659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advanced semantic search and efficient vector indexing for intelligent document retrieval without external LLM dependencies.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45500" y="5270500"/>
            <a:ext cx="7048500" cy="2667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23" name="Shape 21"/>
          <p:cNvSpPr/>
          <p:nvPr/>
        </p:nvSpPr>
        <p:spPr>
          <a:xfrm>
            <a:off x="8820150" y="552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07156" y="228600"/>
                </a:moveTo>
                <a:cubicBezTo>
                  <a:pt x="95280" y="228600"/>
                  <a:pt x="85725" y="238155"/>
                  <a:pt x="85725" y="250031"/>
                </a:cubicBezTo>
                <a:cubicBezTo>
                  <a:pt x="85725" y="261908"/>
                  <a:pt x="95280" y="271463"/>
                  <a:pt x="107156" y="271463"/>
                </a:cubicBezTo>
                <a:lnTo>
                  <a:pt x="235744" y="271463"/>
                </a:lnTo>
                <a:cubicBezTo>
                  <a:pt x="247620" y="271463"/>
                  <a:pt x="257175" y="261908"/>
                  <a:pt x="257175" y="250031"/>
                </a:cubicBezTo>
                <a:cubicBezTo>
                  <a:pt x="257175" y="238155"/>
                  <a:pt x="247620" y="228600"/>
                  <a:pt x="235744" y="228600"/>
                </a:cubicBezTo>
                <a:lnTo>
                  <a:pt x="107156" y="22860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35744" y="357188"/>
                </a:lnTo>
                <a:cubicBezTo>
                  <a:pt x="247620" y="357188"/>
                  <a:pt x="257175" y="347633"/>
                  <a:pt x="257175" y="335756"/>
                </a:cubicBezTo>
                <a:cubicBezTo>
                  <a:pt x="257175" y="323880"/>
                  <a:pt x="247620" y="314325"/>
                  <a:pt x="235744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3D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0" y="60960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OCR: Tesseract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63000" y="65659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accurate, searchable text from scanned documents, making previously inaccessible content available for search and retrieval.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DATA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Security &amp; Data Governance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C7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Ensuring integrity, confidentiality, and availability of academic data through robust measures.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7" name="Shape 5"/>
          <p:cNvSpPr/>
          <p:nvPr/>
        </p:nvSpPr>
        <p:spPr>
          <a:xfrm>
            <a:off x="1130300" y="2540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0480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Control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9500" y="3492500"/>
            <a:ext cx="406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permissions limit access to sensitive documents, ensuring only authorized users can view content.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28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0480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Encryption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6000" y="34544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data encrypted both at rest (on storage servers) and in transit (during transmission).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28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61700" y="2540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11112500" y="30480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Privacy Compliance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12500" y="34544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Adherence to data privacy regulations like GDPR and specific institutional policies.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63900" y="4889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3632200" y="5143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01600" y="203200"/>
                </a:move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ubicBezTo>
                  <a:pt x="90219" y="228600"/>
                  <a:pt x="101600" y="217219"/>
                  <a:pt x="101600" y="203200"/>
                </a:cubicBezTo>
                <a:close/>
                <a:moveTo>
                  <a:pt x="127000" y="203200"/>
                </a:moveTo>
                <a:cubicBezTo>
                  <a:pt x="127000" y="213757"/>
                  <a:pt x="135493" y="222250"/>
                  <a:pt x="146050" y="222250"/>
                </a:cubicBezTo>
                <a:lnTo>
                  <a:pt x="234950" y="222250"/>
                </a:lnTo>
                <a:cubicBezTo>
                  <a:pt x="245507" y="222250"/>
                  <a:pt x="254000" y="213757"/>
                  <a:pt x="254000" y="203200"/>
                </a:cubicBezTo>
                <a:cubicBezTo>
                  <a:pt x="254000" y="192643"/>
                  <a:pt x="245507" y="184150"/>
                  <a:pt x="234950" y="184150"/>
                </a:cubicBezTo>
                <a:lnTo>
                  <a:pt x="146050" y="184150"/>
                </a:lnTo>
                <a:cubicBezTo>
                  <a:pt x="135493" y="184150"/>
                  <a:pt x="127000" y="192643"/>
                  <a:pt x="127000" y="203200"/>
                </a:cubicBezTo>
                <a:close/>
                <a:moveTo>
                  <a:pt x="127000" y="304800"/>
                </a:moveTo>
                <a:cubicBezTo>
                  <a:pt x="127000" y="315357"/>
                  <a:pt x="135493" y="323850"/>
                  <a:pt x="146050" y="323850"/>
                </a:cubicBezTo>
                <a:lnTo>
                  <a:pt x="234950" y="323850"/>
                </a:lnTo>
                <a:cubicBezTo>
                  <a:pt x="245507" y="323850"/>
                  <a:pt x="254000" y="315357"/>
                  <a:pt x="254000" y="304800"/>
                </a:cubicBezTo>
                <a:cubicBezTo>
                  <a:pt x="254000" y="294243"/>
                  <a:pt x="245507" y="285750"/>
                  <a:pt x="234950" y="285750"/>
                </a:cubicBezTo>
                <a:lnTo>
                  <a:pt x="146050" y="285750"/>
                </a:lnTo>
                <a:cubicBezTo>
                  <a:pt x="135493" y="285750"/>
                  <a:pt x="127000" y="294243"/>
                  <a:pt x="127000" y="304800"/>
                </a:cubicBezTo>
                <a:close/>
                <a:moveTo>
                  <a:pt x="76200" y="330200"/>
                </a:moveTo>
                <a:cubicBezTo>
                  <a:pt x="90219" y="330200"/>
                  <a:pt x="101600" y="318819"/>
                  <a:pt x="101600" y="304800"/>
                </a:cubicBezTo>
                <a:cubicBezTo>
                  <a:pt x="101600" y="290781"/>
                  <a:pt x="90219" y="279400"/>
                  <a:pt x="76200" y="279400"/>
                </a:cubicBezTo>
                <a:cubicBezTo>
                  <a:pt x="62181" y="279400"/>
                  <a:pt x="50800" y="290781"/>
                  <a:pt x="50800" y="304800"/>
                </a:cubicBezTo>
                <a:cubicBezTo>
                  <a:pt x="50800" y="318819"/>
                  <a:pt x="62181" y="330200"/>
                  <a:pt x="76200" y="330200"/>
                </a:cubicBezTo>
                <a:close/>
              </a:path>
            </a:pathLst>
          </a:custGeom>
          <a:solidFill>
            <a:srgbClr val="3D6B4F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5651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Audit Logging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581400" y="6096000"/>
            <a:ext cx="406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audit trails track all user activity, providing accountability and enabling investigation.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80400" y="4889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7900" y="514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3D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8597900" y="5651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Backup &amp; Recovery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97900" y="6096000"/>
            <a:ext cx="406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backups and robust recovery procedures ensure data redundancy and business continuity.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493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EDE8E1"/>
          </a:solidFill>
          <a:ln/>
        </p:spPr>
      </p:sp>
      <p:sp>
        <p:nvSpPr>
          <p:cNvPr id="27" name="Text 25"/>
          <p:cNvSpPr/>
          <p:nvPr/>
        </p:nvSpPr>
        <p:spPr>
          <a:xfrm>
            <a:off x="1270000" y="7620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security measures designed to protect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academic data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ensuring seamless access to authorized users.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dogvibe3w34/mnt/agents/output/uni-archive/images/4_Africa_University_Prepares_to_Celebrate.png">    </p:cNvPr>
          <p:cNvPicPr>
            <a:picLocks noChangeAspect="1"/>
          </p:cNvPicPr>
          <p:nvPr/>
        </p:nvPicPr>
        <p:blipFill>
          <a:blip r:embed="rId1"/>
          <a:srcRect l="556" r="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420">
                  <a:alpha val="91000"/>
                </a:srgbClr>
              </a:gs>
              <a:gs pos="60000">
                <a:srgbClr val="2D2420">
                  <a:alpha val="75000"/>
                </a:srgbClr>
              </a:gs>
              <a:gs pos="100000">
                <a:srgbClr val="2D2420">
                  <a:alpha val="3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Impact &amp; Roadmap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016000" y="48895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143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feasibility, implementation timeline, and expected outcomes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14-Week Development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540000"/>
            <a:ext cx="14732000" cy="381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6" name="Shape 4"/>
          <p:cNvSpPr/>
          <p:nvPr/>
        </p:nvSpPr>
        <p:spPr>
          <a:xfrm>
            <a:off x="1968500" y="2413000"/>
            <a:ext cx="304800" cy="3048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68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Platform Setup &amp; OCR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365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core infrastructure, set up databases, integrate the OCR engine, and enable basic document upload functionality.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413000"/>
            <a:ext cx="304800" cy="3048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8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5-9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21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Semantic Search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365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Sentence-BERT for embeddings, implement FAISS for vector indexing, and develop the hybrid search API.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8500" y="2413000"/>
            <a:ext cx="304800" cy="3048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1968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3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10-12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921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Testing &amp; Refinement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82000" y="3365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internal testing, gather user feedback, make UI/UX improvements, resolve bugs, and fine-tune performance.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398500" y="2413000"/>
            <a:ext cx="304800" cy="304800"/>
          </a:xfrm>
          <a:prstGeom prst="ellipse">
            <a:avLst/>
          </a:prstGeom>
          <a:solidFill>
            <a:srgbClr val="3D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1968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3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13-14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0" y="2921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192000" y="3365500"/>
            <a:ext cx="330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to production, develop user training materials, establish continuous monitoring, and set up support.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461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DE8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0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24" name="Text 22"/>
          <p:cNvSpPr/>
          <p:nvPr/>
        </p:nvSpPr>
        <p:spPr>
          <a:xfrm>
            <a:off x="2032000" y="5588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Estimated Cost: KES 8,000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Utilizing open-source tools with minimal external costs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5461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3D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0" y="558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Feasible within academic constraints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complex LLM dependencies | Academic-specific IR</a:t>
            </a:r>
            <a:endParaRPr lang="en-US" sz="1600" dirty="0"/>
          </a:p>
        </p:txBody>
      </p:sp>
      <p:pic>
        <p:nvPicPr>
          <p:cNvPr id="27" name="Image 0" descr="https://kimi-img.moonshot.cn/pub/slides/okc/xydogvibe3w34/mnt/agents/output/uni-archive/images/5_South_Africa_Expands_Digital_Access.png">    </p:cNvPr>
          <p:cNvPicPr>
            <a:picLocks noChangeAspect="1"/>
          </p:cNvPicPr>
          <p:nvPr/>
        </p:nvPicPr>
        <p:blipFill>
          <a:blip r:embed="rId1"/>
          <a:srcRect l="0" r="0" t="20000" b="20000"/>
          <a:stretch/>
        </p:blipFill>
        <p:spPr>
          <a:xfrm>
            <a:off x="762000" y="6858000"/>
            <a:ext cx="14732000" cy="1524000"/>
          </a:xfrm>
          <a:prstGeom prst="roundRect">
            <a:avLst>
              <a:gd name="adj" fmla="val 6000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Benefits for All Stakeholders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15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857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429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D6B4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90% Faster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0894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retrieval speed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5720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access to academic materials, significantly reducing research time. Enjoy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access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 comprehensive digital library from any device.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841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159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127000" y="95250"/>
                </a:moveTo>
                <a:cubicBezTo>
                  <a:pt x="127000" y="60226"/>
                  <a:pt x="155476" y="31750"/>
                  <a:pt x="190500" y="31750"/>
                </a:cubicBezTo>
                <a:lnTo>
                  <a:pt x="539750" y="31750"/>
                </a:lnTo>
                <a:cubicBezTo>
                  <a:pt x="574774" y="31750"/>
                  <a:pt x="603250" y="60226"/>
                  <a:pt x="603250" y="95250"/>
                </a:cubicBezTo>
                <a:lnTo>
                  <a:pt x="603250" y="333375"/>
                </a:lnTo>
                <a:lnTo>
                  <a:pt x="508000" y="333375"/>
                </a:lnTo>
                <a:lnTo>
                  <a:pt x="508000" y="317500"/>
                </a:lnTo>
                <a:cubicBezTo>
                  <a:pt x="508000" y="299938"/>
                  <a:pt x="493812" y="285750"/>
                  <a:pt x="476250" y="285750"/>
                </a:cubicBezTo>
                <a:lnTo>
                  <a:pt x="412750" y="285750"/>
                </a:lnTo>
                <a:cubicBezTo>
                  <a:pt x="395188" y="285750"/>
                  <a:pt x="381000" y="299938"/>
                  <a:pt x="381000" y="317500"/>
                </a:cubicBezTo>
                <a:lnTo>
                  <a:pt x="381000" y="333375"/>
                </a:lnTo>
                <a:lnTo>
                  <a:pt x="252909" y="333375"/>
                </a:lnTo>
                <a:cubicBezTo>
                  <a:pt x="263723" y="314722"/>
                  <a:pt x="269875" y="292993"/>
                  <a:pt x="269875" y="269875"/>
                </a:cubicBezTo>
                <a:cubicBezTo>
                  <a:pt x="269875" y="199727"/>
                  <a:pt x="213023" y="142875"/>
                  <a:pt x="142875" y="142875"/>
                </a:cubicBezTo>
                <a:cubicBezTo>
                  <a:pt x="137517" y="142875"/>
                  <a:pt x="132159" y="143173"/>
                  <a:pt x="127000" y="143867"/>
                </a:cubicBezTo>
                <a:lnTo>
                  <a:pt x="127000" y="95250"/>
                </a:lnTo>
                <a:close/>
                <a:moveTo>
                  <a:pt x="330398" y="444500"/>
                </a:moveTo>
                <a:cubicBezTo>
                  <a:pt x="325338" y="420489"/>
                  <a:pt x="314226" y="398760"/>
                  <a:pt x="298549" y="381000"/>
                </a:cubicBezTo>
                <a:lnTo>
                  <a:pt x="603250" y="381000"/>
                </a:lnTo>
                <a:cubicBezTo>
                  <a:pt x="603250" y="416024"/>
                  <a:pt x="574774" y="444500"/>
                  <a:pt x="539750" y="444500"/>
                </a:cubicBezTo>
                <a:lnTo>
                  <a:pt x="330398" y="444500"/>
                </a:lnTo>
                <a:close/>
                <a:moveTo>
                  <a:pt x="63500" y="269875"/>
                </a:moveTo>
                <a:cubicBezTo>
                  <a:pt x="63500" y="226067"/>
                  <a:pt x="99067" y="190500"/>
                  <a:pt x="142875" y="190500"/>
                </a:cubicBezTo>
                <a:cubicBezTo>
                  <a:pt x="186683" y="190500"/>
                  <a:pt x="222250" y="226067"/>
                  <a:pt x="222250" y="269875"/>
                </a:cubicBezTo>
                <a:cubicBezTo>
                  <a:pt x="222250" y="313683"/>
                  <a:pt x="186683" y="349250"/>
                  <a:pt x="142875" y="349250"/>
                </a:cubicBezTo>
                <a:cubicBezTo>
                  <a:pt x="99067" y="349250"/>
                  <a:pt x="63500" y="313683"/>
                  <a:pt x="63500" y="269875"/>
                </a:cubicBezTo>
                <a:close/>
                <a:moveTo>
                  <a:pt x="0" y="476250"/>
                </a:moveTo>
                <a:cubicBezTo>
                  <a:pt x="0" y="423664"/>
                  <a:pt x="42664" y="381000"/>
                  <a:pt x="95250" y="381000"/>
                </a:cubicBezTo>
                <a:lnTo>
                  <a:pt x="190500" y="381000"/>
                </a:lnTo>
                <a:cubicBezTo>
                  <a:pt x="243086" y="381000"/>
                  <a:pt x="285750" y="423664"/>
                  <a:pt x="285750" y="476250"/>
                </a:cubicBezTo>
                <a:cubicBezTo>
                  <a:pt x="285750" y="493812"/>
                  <a:pt x="271562" y="508000"/>
                  <a:pt x="254000" y="508000"/>
                </a:cubicBezTo>
                <a:lnTo>
                  <a:pt x="31750" y="508000"/>
                </a:lnTo>
                <a:cubicBezTo>
                  <a:pt x="14188" y="508000"/>
                  <a:pt x="0" y="493812"/>
                  <a:pt x="0" y="47625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2857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For Faculty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3429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D6B4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Easier Sharing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40894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research &amp; teaching materials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45720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Streamlined resource management and secure content contribution. Enhanced collaboration tools across departments.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1841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DE8E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12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9" name="Text 17"/>
          <p:cNvSpPr/>
          <p:nvPr/>
        </p:nvSpPr>
        <p:spPr>
          <a:xfrm>
            <a:off x="11112500" y="2857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B85C38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For the Institution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12500" y="3429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D6B4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Secure Archive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12500" y="40894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7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reduced administrative burden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12500" y="45720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preservation of academic knowledge. Improved operational efficiency with a unified resource hub.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7048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 ARCHIVE delivers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impact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enhancing academic processes for all stakeholders in Kenyan higher education.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dogvibe3w34/mnt/agents/output/uni-archive/images/2_About_Us_Mount_Kenya_University.pn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420">
                  <a:alpha val="94000"/>
                </a:srgbClr>
              </a:gs>
              <a:gs pos="50000">
                <a:srgbClr val="2D2420">
                  <a:alpha val="78000"/>
                </a:srgbClr>
              </a:gs>
              <a:gs pos="100000">
                <a:srgbClr val="2D2420">
                  <a:alpha val="2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 ARCHIVE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048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200" spc="200" kern="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Transforming Kenyan Higher Education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016000" y="49530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70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students, faculty, and institutions with intelligent document retrieval. Built for Kenya, ready for deployment.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6604000"/>
            <a:ext cx="2794000" cy="635000"/>
          </a:xfrm>
          <a:prstGeom prst="roundRect">
            <a:avLst>
              <a:gd name="adj" fmla="val 12000"/>
            </a:avLst>
          </a:prstGeom>
          <a:solidFill>
            <a:srgbClr val="B85C38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604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More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B85C38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 ARCHIVE: Intelligent Academic Document Retrieval</dc:title>
  <dc:subject>UNI ARCHIVE: Intelligent Academic Document Retrieval</dc:subject>
  <dc:creator>Kimi</dc:creator>
  <cp:lastModifiedBy>Kimi</cp:lastModifiedBy>
  <cp:revision>1</cp:revision>
  <dcterms:created xsi:type="dcterms:W3CDTF">2026-06-03T07:44:24Z</dcterms:created>
  <dcterms:modified xsi:type="dcterms:W3CDTF">2026-06-03T07:44:24Z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{"Label":"UNI ARCHIVE: Intelligent Academic Document Retrieval","ContentProducer":"001191110108MACG2KBH8F10000","ProduceID":"19e8c59f-12f2-89b7-8000-0000b6a27500","ReservedCode1":"","ContentPropagator":"001191110108MACG2KBH8F20000","PropagateID":"19e8c59f-12f2-89b7-8000-0000b6a27500","ReservedCode2":""}</vt:lpwstr>
  </property>
</Properties>
</file>